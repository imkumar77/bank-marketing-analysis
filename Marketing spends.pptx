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5"/>
  </p:notesMasterIdLst>
  <p:sldIdLst>
    <p:sldId id="256" r:id="rId2"/>
    <p:sldId id="257" r:id="rId3"/>
    <p:sldId id="258" r:id="rId4"/>
    <p:sldId id="280" r:id="rId5"/>
    <p:sldId id="281" r:id="rId6"/>
    <p:sldId id="279" r:id="rId7"/>
    <p:sldId id="291" r:id="rId8"/>
    <p:sldId id="282" r:id="rId9"/>
    <p:sldId id="286" r:id="rId10"/>
    <p:sldId id="287" r:id="rId11"/>
    <p:sldId id="288" r:id="rId12"/>
    <p:sldId id="290" r:id="rId13"/>
    <p:sldId id="289" r:id="rId14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7755" autoAdjust="0"/>
  </p:normalViewPr>
  <p:slideViewPr>
    <p:cSldViewPr snapToGrid="0">
      <p:cViewPr varScale="1">
        <p:scale>
          <a:sx n="68" d="100"/>
          <a:sy n="68" d="100"/>
        </p:scale>
        <p:origin x="12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\OneDrive\Desktop\marketin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\OneDrive\Desktop\marketing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\Downloads\Data+set+Stub+fil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\OneDrive\Desktop\marketing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\OneDrive\Desktop\marketing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\OneDrive\Desktop\marketing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\OneDrive\Desktop\marketing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\OneDrive\Desktop\marketing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\OneDrive\Desktop\marketing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[marketing.xlsx]Univariate!PivotTable1</c:name>
    <c:fmtId val="3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Univariate!$F$48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Univariate!$E$49:$E$126</c:f>
              <c:strCache>
                <c:ptCount val="77"/>
                <c:pt idx="0">
                  <c:v>18</c:v>
                </c:pt>
                <c:pt idx="1">
                  <c:v>19</c:v>
                </c:pt>
                <c:pt idx="2">
                  <c:v>20</c:v>
                </c:pt>
                <c:pt idx="3">
                  <c:v>21</c:v>
                </c:pt>
                <c:pt idx="4">
                  <c:v>22</c:v>
                </c:pt>
                <c:pt idx="5">
                  <c:v>23</c:v>
                </c:pt>
                <c:pt idx="6">
                  <c:v>24</c:v>
                </c:pt>
                <c:pt idx="7">
                  <c:v>25</c:v>
                </c:pt>
                <c:pt idx="8">
                  <c:v>26</c:v>
                </c:pt>
                <c:pt idx="9">
                  <c:v>27</c:v>
                </c:pt>
                <c:pt idx="10">
                  <c:v>28</c:v>
                </c:pt>
                <c:pt idx="11">
                  <c:v>29</c:v>
                </c:pt>
                <c:pt idx="12">
                  <c:v>30</c:v>
                </c:pt>
                <c:pt idx="13">
                  <c:v>31</c:v>
                </c:pt>
                <c:pt idx="14">
                  <c:v>32</c:v>
                </c:pt>
                <c:pt idx="15">
                  <c:v>33</c:v>
                </c:pt>
                <c:pt idx="16">
                  <c:v>34</c:v>
                </c:pt>
                <c:pt idx="17">
                  <c:v>35</c:v>
                </c:pt>
                <c:pt idx="18">
                  <c:v>36</c:v>
                </c:pt>
                <c:pt idx="19">
                  <c:v>37</c:v>
                </c:pt>
                <c:pt idx="20">
                  <c:v>38</c:v>
                </c:pt>
                <c:pt idx="21">
                  <c:v>39</c:v>
                </c:pt>
                <c:pt idx="22">
                  <c:v>40</c:v>
                </c:pt>
                <c:pt idx="23">
                  <c:v>41</c:v>
                </c:pt>
                <c:pt idx="24">
                  <c:v>42</c:v>
                </c:pt>
                <c:pt idx="25">
                  <c:v>43</c:v>
                </c:pt>
                <c:pt idx="26">
                  <c:v>44</c:v>
                </c:pt>
                <c:pt idx="27">
                  <c:v>45</c:v>
                </c:pt>
                <c:pt idx="28">
                  <c:v>46</c:v>
                </c:pt>
                <c:pt idx="29">
                  <c:v>47</c:v>
                </c:pt>
                <c:pt idx="30">
                  <c:v>48</c:v>
                </c:pt>
                <c:pt idx="31">
                  <c:v>49</c:v>
                </c:pt>
                <c:pt idx="32">
                  <c:v>50</c:v>
                </c:pt>
                <c:pt idx="33">
                  <c:v>51</c:v>
                </c:pt>
                <c:pt idx="34">
                  <c:v>52</c:v>
                </c:pt>
                <c:pt idx="35">
                  <c:v>53</c:v>
                </c:pt>
                <c:pt idx="36">
                  <c:v>54</c:v>
                </c:pt>
                <c:pt idx="37">
                  <c:v>55</c:v>
                </c:pt>
                <c:pt idx="38">
                  <c:v>56</c:v>
                </c:pt>
                <c:pt idx="39">
                  <c:v>57</c:v>
                </c:pt>
                <c:pt idx="40">
                  <c:v>58</c:v>
                </c:pt>
                <c:pt idx="41">
                  <c:v>59</c:v>
                </c:pt>
                <c:pt idx="42">
                  <c:v>60</c:v>
                </c:pt>
                <c:pt idx="43">
                  <c:v>61</c:v>
                </c:pt>
                <c:pt idx="44">
                  <c:v>62</c:v>
                </c:pt>
                <c:pt idx="45">
                  <c:v>63</c:v>
                </c:pt>
                <c:pt idx="46">
                  <c:v>64</c:v>
                </c:pt>
                <c:pt idx="47">
                  <c:v>65</c:v>
                </c:pt>
                <c:pt idx="48">
                  <c:v>66</c:v>
                </c:pt>
                <c:pt idx="49">
                  <c:v>67</c:v>
                </c:pt>
                <c:pt idx="50">
                  <c:v>68</c:v>
                </c:pt>
                <c:pt idx="51">
                  <c:v>69</c:v>
                </c:pt>
                <c:pt idx="52">
                  <c:v>70</c:v>
                </c:pt>
                <c:pt idx="53">
                  <c:v>71</c:v>
                </c:pt>
                <c:pt idx="54">
                  <c:v>72</c:v>
                </c:pt>
                <c:pt idx="55">
                  <c:v>73</c:v>
                </c:pt>
                <c:pt idx="56">
                  <c:v>74</c:v>
                </c:pt>
                <c:pt idx="57">
                  <c:v>75</c:v>
                </c:pt>
                <c:pt idx="58">
                  <c:v>76</c:v>
                </c:pt>
                <c:pt idx="59">
                  <c:v>77</c:v>
                </c:pt>
                <c:pt idx="60">
                  <c:v>78</c:v>
                </c:pt>
                <c:pt idx="61">
                  <c:v>79</c:v>
                </c:pt>
                <c:pt idx="62">
                  <c:v>80</c:v>
                </c:pt>
                <c:pt idx="63">
                  <c:v>81</c:v>
                </c:pt>
                <c:pt idx="64">
                  <c:v>82</c:v>
                </c:pt>
                <c:pt idx="65">
                  <c:v>83</c:v>
                </c:pt>
                <c:pt idx="66">
                  <c:v>84</c:v>
                </c:pt>
                <c:pt idx="67">
                  <c:v>85</c:v>
                </c:pt>
                <c:pt idx="68">
                  <c:v>86</c:v>
                </c:pt>
                <c:pt idx="69">
                  <c:v>87</c:v>
                </c:pt>
                <c:pt idx="70">
                  <c:v>88</c:v>
                </c:pt>
                <c:pt idx="71">
                  <c:v>89</c:v>
                </c:pt>
                <c:pt idx="72">
                  <c:v>90</c:v>
                </c:pt>
                <c:pt idx="73">
                  <c:v>92</c:v>
                </c:pt>
                <c:pt idx="74">
                  <c:v>93</c:v>
                </c:pt>
                <c:pt idx="75">
                  <c:v>94</c:v>
                </c:pt>
                <c:pt idx="76">
                  <c:v>95</c:v>
                </c:pt>
              </c:strCache>
            </c:strRef>
          </c:cat>
          <c:val>
            <c:numRef>
              <c:f>Univariate!$F$49:$F$126</c:f>
              <c:numCache>
                <c:formatCode>General</c:formatCode>
                <c:ptCount val="77"/>
                <c:pt idx="0">
                  <c:v>216</c:v>
                </c:pt>
                <c:pt idx="1">
                  <c:v>646</c:v>
                </c:pt>
                <c:pt idx="2">
                  <c:v>980</c:v>
                </c:pt>
                <c:pt idx="3">
                  <c:v>1680</c:v>
                </c:pt>
                <c:pt idx="4">
                  <c:v>2794</c:v>
                </c:pt>
                <c:pt idx="5">
                  <c:v>4692</c:v>
                </c:pt>
                <c:pt idx="6">
                  <c:v>7200</c:v>
                </c:pt>
                <c:pt idx="7">
                  <c:v>12900</c:v>
                </c:pt>
                <c:pt idx="8">
                  <c:v>20878</c:v>
                </c:pt>
                <c:pt idx="9">
                  <c:v>24489</c:v>
                </c:pt>
                <c:pt idx="10">
                  <c:v>28952</c:v>
                </c:pt>
                <c:pt idx="11">
                  <c:v>34162</c:v>
                </c:pt>
                <c:pt idx="12">
                  <c:v>52800</c:v>
                </c:pt>
                <c:pt idx="13">
                  <c:v>62155</c:v>
                </c:pt>
                <c:pt idx="14">
                  <c:v>66752</c:v>
                </c:pt>
                <c:pt idx="15">
                  <c:v>65043</c:v>
                </c:pt>
                <c:pt idx="16">
                  <c:v>65586</c:v>
                </c:pt>
                <c:pt idx="17">
                  <c:v>66465</c:v>
                </c:pt>
                <c:pt idx="18">
                  <c:v>65088</c:v>
                </c:pt>
                <c:pt idx="19">
                  <c:v>62937</c:v>
                </c:pt>
                <c:pt idx="20">
                  <c:v>55708</c:v>
                </c:pt>
                <c:pt idx="21">
                  <c:v>58110</c:v>
                </c:pt>
                <c:pt idx="22">
                  <c:v>54160</c:v>
                </c:pt>
                <c:pt idx="23">
                  <c:v>53095</c:v>
                </c:pt>
                <c:pt idx="24">
                  <c:v>51996</c:v>
                </c:pt>
                <c:pt idx="25">
                  <c:v>50052</c:v>
                </c:pt>
                <c:pt idx="26">
                  <c:v>49852</c:v>
                </c:pt>
                <c:pt idx="27">
                  <c:v>55125</c:v>
                </c:pt>
                <c:pt idx="28">
                  <c:v>54188</c:v>
                </c:pt>
                <c:pt idx="29">
                  <c:v>50948</c:v>
                </c:pt>
                <c:pt idx="30">
                  <c:v>48048</c:v>
                </c:pt>
                <c:pt idx="31">
                  <c:v>48804</c:v>
                </c:pt>
                <c:pt idx="32">
                  <c:v>46950</c:v>
                </c:pt>
                <c:pt idx="33">
                  <c:v>47736</c:v>
                </c:pt>
                <c:pt idx="34">
                  <c:v>47424</c:v>
                </c:pt>
                <c:pt idx="35">
                  <c:v>47223</c:v>
                </c:pt>
                <c:pt idx="36">
                  <c:v>43956</c:v>
                </c:pt>
                <c:pt idx="37">
                  <c:v>44495</c:v>
                </c:pt>
                <c:pt idx="38">
                  <c:v>43848</c:v>
                </c:pt>
                <c:pt idx="39">
                  <c:v>47196</c:v>
                </c:pt>
                <c:pt idx="40">
                  <c:v>43152</c:v>
                </c:pt>
                <c:pt idx="41">
                  <c:v>45371</c:v>
                </c:pt>
                <c:pt idx="42">
                  <c:v>35640</c:v>
                </c:pt>
                <c:pt idx="43">
                  <c:v>8662</c:v>
                </c:pt>
                <c:pt idx="44">
                  <c:v>4836</c:v>
                </c:pt>
                <c:pt idx="45">
                  <c:v>4473</c:v>
                </c:pt>
                <c:pt idx="46">
                  <c:v>4480</c:v>
                </c:pt>
                <c:pt idx="47">
                  <c:v>3835</c:v>
                </c:pt>
                <c:pt idx="48">
                  <c:v>3960</c:v>
                </c:pt>
                <c:pt idx="49">
                  <c:v>3551</c:v>
                </c:pt>
                <c:pt idx="50">
                  <c:v>2380</c:v>
                </c:pt>
                <c:pt idx="51">
                  <c:v>2967</c:v>
                </c:pt>
                <c:pt idx="52">
                  <c:v>4550</c:v>
                </c:pt>
                <c:pt idx="53">
                  <c:v>3834</c:v>
                </c:pt>
                <c:pt idx="54">
                  <c:v>3744</c:v>
                </c:pt>
                <c:pt idx="55">
                  <c:v>3066</c:v>
                </c:pt>
                <c:pt idx="56">
                  <c:v>2664</c:v>
                </c:pt>
                <c:pt idx="57">
                  <c:v>2775</c:v>
                </c:pt>
                <c:pt idx="58">
                  <c:v>2432</c:v>
                </c:pt>
                <c:pt idx="59">
                  <c:v>3157</c:v>
                </c:pt>
                <c:pt idx="60">
                  <c:v>2262</c:v>
                </c:pt>
                <c:pt idx="61">
                  <c:v>2054</c:v>
                </c:pt>
                <c:pt idx="62">
                  <c:v>2480</c:v>
                </c:pt>
                <c:pt idx="63">
                  <c:v>1377</c:v>
                </c:pt>
                <c:pt idx="64">
                  <c:v>1558</c:v>
                </c:pt>
                <c:pt idx="65">
                  <c:v>1826</c:v>
                </c:pt>
                <c:pt idx="66">
                  <c:v>756</c:v>
                </c:pt>
                <c:pt idx="67">
                  <c:v>425</c:v>
                </c:pt>
                <c:pt idx="68">
                  <c:v>688</c:v>
                </c:pt>
                <c:pt idx="69">
                  <c:v>348</c:v>
                </c:pt>
                <c:pt idx="70">
                  <c:v>176</c:v>
                </c:pt>
                <c:pt idx="71">
                  <c:v>267</c:v>
                </c:pt>
                <c:pt idx="72">
                  <c:v>180</c:v>
                </c:pt>
                <c:pt idx="73">
                  <c:v>184</c:v>
                </c:pt>
                <c:pt idx="74">
                  <c:v>186</c:v>
                </c:pt>
                <c:pt idx="75">
                  <c:v>94</c:v>
                </c:pt>
                <c:pt idx="76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B1-4707-BF91-1326A6397E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1247584"/>
        <c:axId val="131248064"/>
      </c:barChart>
      <c:catAx>
        <c:axId val="1312475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248064"/>
        <c:crosses val="autoZero"/>
        <c:auto val="1"/>
        <c:lblAlgn val="ctr"/>
        <c:lblOffset val="100"/>
        <c:noMultiLvlLbl val="0"/>
      </c:catAx>
      <c:valAx>
        <c:axId val="131248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Total</a:t>
                </a:r>
                <a:r>
                  <a:rPr lang="en-IN" baseline="0"/>
                  <a:t> Population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247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[marketing.xlsx]Univariate!PivotTable2</c:name>
    <c:fmtId val="4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calls</a:t>
            </a:r>
            <a:r>
              <a:rPr lang="en-US" baseline="0"/>
              <a:t> in months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Univariate!$I$64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Univariate!$H$65:$H$77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Univariate!$I$65:$I$77</c:f>
              <c:numCache>
                <c:formatCode>0.00%</c:formatCode>
                <c:ptCount val="12"/>
                <c:pt idx="0">
                  <c:v>3.1128318584070797E-2</c:v>
                </c:pt>
                <c:pt idx="1">
                  <c:v>5.8915929203539823E-2</c:v>
                </c:pt>
                <c:pt idx="2">
                  <c:v>1.0619469026548672E-2</c:v>
                </c:pt>
                <c:pt idx="3">
                  <c:v>6.5265486725663721E-2</c:v>
                </c:pt>
                <c:pt idx="4">
                  <c:v>0.30617256637168144</c:v>
                </c:pt>
                <c:pt idx="5">
                  <c:v>0.11847345132743363</c:v>
                </c:pt>
                <c:pt idx="6">
                  <c:v>0.15305309734513275</c:v>
                </c:pt>
                <c:pt idx="7">
                  <c:v>0.1390929203539823</c:v>
                </c:pt>
                <c:pt idx="8">
                  <c:v>1.2898230088495576E-2</c:v>
                </c:pt>
                <c:pt idx="9">
                  <c:v>1.3008849557522123E-2</c:v>
                </c:pt>
                <c:pt idx="10">
                  <c:v>8.6570796460176985E-2</c:v>
                </c:pt>
                <c:pt idx="11">
                  <c:v>4.8008849557522127E-3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D7-4316-AAB4-C862C2A00BF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35687232"/>
        <c:axId val="635685312"/>
      </c:barChart>
      <c:catAx>
        <c:axId val="635687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5685312"/>
        <c:crosses val="autoZero"/>
        <c:auto val="1"/>
        <c:lblAlgn val="ctr"/>
        <c:lblOffset val="100"/>
        <c:noMultiLvlLbl val="0"/>
      </c:catAx>
      <c:valAx>
        <c:axId val="635685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5687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[marketing.xlsx]Univariate!PivotTable5</c:name>
    <c:fmtId val="3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Area</a:t>
            </a:r>
            <a:r>
              <a:rPr lang="en-US" baseline="0"/>
              <a:t> Of Work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Univariate!$B$32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Univariate!$A$33:$A$45</c:f>
              <c:strCache>
                <c:ptCount val="12"/>
                <c:pt idx="0">
                  <c:v>blue-collar</c:v>
                </c:pt>
                <c:pt idx="1">
                  <c:v>management</c:v>
                </c:pt>
                <c:pt idx="2">
                  <c:v>technician</c:v>
                </c:pt>
                <c:pt idx="3">
                  <c:v>admin</c:v>
                </c:pt>
                <c:pt idx="4">
                  <c:v>services</c:v>
                </c:pt>
                <c:pt idx="5">
                  <c:v>retired</c:v>
                </c:pt>
                <c:pt idx="6">
                  <c:v>self-employed</c:v>
                </c:pt>
                <c:pt idx="7">
                  <c:v>entrepreneur</c:v>
                </c:pt>
                <c:pt idx="8">
                  <c:v>unemployed</c:v>
                </c:pt>
                <c:pt idx="9">
                  <c:v>housemaid</c:v>
                </c:pt>
                <c:pt idx="10">
                  <c:v>student</c:v>
                </c:pt>
                <c:pt idx="11">
                  <c:v>unknown</c:v>
                </c:pt>
              </c:strCache>
            </c:strRef>
          </c:cat>
          <c:val>
            <c:numRef>
              <c:f>Univariate!$B$33:$B$45</c:f>
              <c:numCache>
                <c:formatCode>General</c:formatCode>
                <c:ptCount val="12"/>
                <c:pt idx="0">
                  <c:v>9753</c:v>
                </c:pt>
                <c:pt idx="1">
                  <c:v>9458</c:v>
                </c:pt>
                <c:pt idx="2">
                  <c:v>7604</c:v>
                </c:pt>
                <c:pt idx="3">
                  <c:v>5156</c:v>
                </c:pt>
                <c:pt idx="4">
                  <c:v>4166</c:v>
                </c:pt>
                <c:pt idx="5">
                  <c:v>2237</c:v>
                </c:pt>
                <c:pt idx="6">
                  <c:v>1576</c:v>
                </c:pt>
                <c:pt idx="7">
                  <c:v>1489</c:v>
                </c:pt>
                <c:pt idx="8">
                  <c:v>1299</c:v>
                </c:pt>
                <c:pt idx="9">
                  <c:v>1243</c:v>
                </c:pt>
                <c:pt idx="10">
                  <c:v>927</c:v>
                </c:pt>
                <c:pt idx="11">
                  <c:v>292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71-4DEB-BC90-652DB12F17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72216543"/>
        <c:axId val="172216063"/>
        <c:axId val="0"/>
      </c:bar3DChart>
      <c:catAx>
        <c:axId val="1722165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Job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216063"/>
        <c:crosses val="autoZero"/>
        <c:auto val="1"/>
        <c:lblAlgn val="ctr"/>
        <c:lblOffset val="100"/>
        <c:noMultiLvlLbl val="0"/>
      </c:catAx>
      <c:valAx>
        <c:axId val="1722160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Total</a:t>
                </a:r>
                <a:r>
                  <a:rPr lang="en-IN" baseline="0"/>
                  <a:t> Population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216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[marketing.xlsx]Univariate!PivotTable3</c:name>
    <c:fmtId val="4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Calls</a:t>
            </a:r>
            <a:r>
              <a:rPr lang="en-US" baseline="0"/>
              <a:t> on Weekday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Univariate!$B$2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Univariate!$A$3:$A$10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Univariate!$B$3:$B$10</c:f>
              <c:numCache>
                <c:formatCode>0.00%</c:formatCode>
                <c:ptCount val="7"/>
                <c:pt idx="0">
                  <c:v>0.19223451327433627</c:v>
                </c:pt>
                <c:pt idx="1">
                  <c:v>0.11991150442477876</c:v>
                </c:pt>
                <c:pt idx="2">
                  <c:v>1.1238938053097345E-2</c:v>
                </c:pt>
                <c:pt idx="3">
                  <c:v>8.8694690265486723E-2</c:v>
                </c:pt>
                <c:pt idx="4">
                  <c:v>0.18053097345132743</c:v>
                </c:pt>
                <c:pt idx="5">
                  <c:v>0.1970353982300885</c:v>
                </c:pt>
                <c:pt idx="6">
                  <c:v>0.21035398230088495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47-4DC6-AB27-0CCEFF2C336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35719392"/>
        <c:axId val="635713632"/>
      </c:barChart>
      <c:catAx>
        <c:axId val="635719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5713632"/>
        <c:crosses val="autoZero"/>
        <c:auto val="1"/>
        <c:lblAlgn val="ctr"/>
        <c:lblOffset val="100"/>
        <c:noMultiLvlLbl val="0"/>
      </c:catAx>
      <c:valAx>
        <c:axId val="6357136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57193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[marketing.xlsx]Univariate!PivotTable7</c:name>
    <c:fmtId val="4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Education</a:t>
            </a:r>
            <a:r>
              <a:rPr lang="en-US" baseline="0" dirty="0"/>
              <a:t> </a:t>
            </a:r>
            <a:endParaRPr lang="en-US" dirty="0"/>
          </a:p>
        </c:rich>
      </c:tx>
      <c:layout>
        <c:manualLayout>
          <c:xMode val="edge"/>
          <c:yMode val="edge"/>
          <c:x val="0.46102676080381783"/>
          <c:y val="2.4770643991233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6098157768905364E-2"/>
          <c:y val="6.670354563301735E-2"/>
          <c:w val="0.93846441957108329"/>
          <c:h val="0.7392256410028604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Univariate!$B$54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Univariate!$A$55:$A$59</c:f>
              <c:strCache>
                <c:ptCount val="4"/>
                <c:pt idx="0">
                  <c:v>masters</c:v>
                </c:pt>
                <c:pt idx="1">
                  <c:v>Doctorate</c:v>
                </c:pt>
                <c:pt idx="2">
                  <c:v>bachelors</c:v>
                </c:pt>
                <c:pt idx="3">
                  <c:v>unknown</c:v>
                </c:pt>
              </c:strCache>
            </c:strRef>
          </c:cat>
          <c:val>
            <c:numRef>
              <c:f>Univariate!$B$55:$B$59</c:f>
              <c:numCache>
                <c:formatCode>0%</c:formatCode>
                <c:ptCount val="4"/>
                <c:pt idx="0">
                  <c:v>0.51318584070796458</c:v>
                </c:pt>
                <c:pt idx="1">
                  <c:v>0.29411504424778762</c:v>
                </c:pt>
                <c:pt idx="2">
                  <c:v>0.15163716814159292</c:v>
                </c:pt>
                <c:pt idx="3">
                  <c:v>4.1061946902654869E-2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CB-4A06-A58C-51D129B129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238452959"/>
        <c:axId val="1238455839"/>
      </c:barChart>
      <c:catAx>
        <c:axId val="123845295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Education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8455839"/>
        <c:crosses val="autoZero"/>
        <c:auto val="1"/>
        <c:lblAlgn val="ctr"/>
        <c:lblOffset val="100"/>
        <c:noMultiLvlLbl val="0"/>
      </c:catAx>
      <c:valAx>
        <c:axId val="12384558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%</a:t>
                </a:r>
                <a:r>
                  <a:rPr lang="en-IN" baseline="0"/>
                  <a:t> Population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84529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[marketing.xlsx]bivariate!PivotTable4</c:name>
    <c:fmtId val="4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Conversion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bivariate!$B$2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bivariate!$A$3:$A$6</c:f>
              <c:strCache>
                <c:ptCount val="3"/>
                <c:pt idx="0">
                  <c:v>Divorced</c:v>
                </c:pt>
                <c:pt idx="1">
                  <c:v>Married</c:v>
                </c:pt>
                <c:pt idx="2">
                  <c:v>Single</c:v>
                </c:pt>
              </c:strCache>
            </c:strRef>
          </c:cat>
          <c:val>
            <c:numRef>
              <c:f>bivariate!$B$3:$B$6</c:f>
              <c:numCache>
                <c:formatCode>0.00%</c:formatCode>
                <c:ptCount val="3"/>
                <c:pt idx="0">
                  <c:v>0.1175680859225163</c:v>
                </c:pt>
                <c:pt idx="1">
                  <c:v>9.8688319800124921E-2</c:v>
                </c:pt>
                <c:pt idx="2">
                  <c:v>0.14590022711253817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34-4630-AC64-693C65AFD76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35708352"/>
        <c:axId val="635715072"/>
      </c:barChart>
      <c:catAx>
        <c:axId val="635708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5715072"/>
        <c:crosses val="autoZero"/>
        <c:auto val="1"/>
        <c:lblAlgn val="ctr"/>
        <c:lblOffset val="100"/>
        <c:noMultiLvlLbl val="0"/>
      </c:catAx>
      <c:valAx>
        <c:axId val="635715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57083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[marketing.xlsx]bivariate!PivotTable5</c:name>
    <c:fmtId val="5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conversion</a:t>
            </a:r>
            <a:r>
              <a:rPr lang="en-US" baseline="0"/>
              <a:t> on Education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bivariate!$B$12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bivariate!$A$13:$A$16</c:f>
              <c:strCache>
                <c:ptCount val="3"/>
                <c:pt idx="0">
                  <c:v>Bachelors</c:v>
                </c:pt>
                <c:pt idx="1">
                  <c:v>Doctorate</c:v>
                </c:pt>
                <c:pt idx="2">
                  <c:v>Masters</c:v>
                </c:pt>
              </c:strCache>
            </c:strRef>
          </c:cat>
          <c:val>
            <c:numRef>
              <c:f>bivariate!$B$13:$B$16</c:f>
              <c:numCache>
                <c:formatCode>0.00%</c:formatCode>
                <c:ptCount val="3"/>
                <c:pt idx="0">
                  <c:v>8.5205719288007006E-2</c:v>
                </c:pt>
                <c:pt idx="1">
                  <c:v>0.14675793591093728</c:v>
                </c:pt>
                <c:pt idx="2">
                  <c:v>0.10269011898603207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BC-4562-B214-DEF79CC530D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35698272"/>
        <c:axId val="635684352"/>
      </c:barChart>
      <c:catAx>
        <c:axId val="635698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5684352"/>
        <c:crosses val="autoZero"/>
        <c:auto val="1"/>
        <c:lblAlgn val="ctr"/>
        <c:lblOffset val="100"/>
        <c:noMultiLvlLbl val="0"/>
      </c:catAx>
      <c:valAx>
        <c:axId val="6356843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56982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[marketing.xlsx]bivariate!PivotTable6</c:name>
    <c:fmtId val="6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Poutcome</a:t>
            </a:r>
            <a:r>
              <a:rPr lang="en-US" baseline="0"/>
              <a:t> vs Conversion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bivariate!$B$22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bivariate!$A$23:$A$27</c:f>
              <c:strCache>
                <c:ptCount val="4"/>
                <c:pt idx="0">
                  <c:v>Failure</c:v>
                </c:pt>
                <c:pt idx="1">
                  <c:v>Other</c:v>
                </c:pt>
                <c:pt idx="2">
                  <c:v>Success</c:v>
                </c:pt>
                <c:pt idx="3">
                  <c:v>Unknown</c:v>
                </c:pt>
              </c:strCache>
            </c:strRef>
          </c:cat>
          <c:val>
            <c:numRef>
              <c:f>bivariate!$B$23:$B$27</c:f>
              <c:numCache>
                <c:formatCode>0.00%</c:formatCode>
                <c:ptCount val="4"/>
                <c:pt idx="0">
                  <c:v>0.12364158294033217</c:v>
                </c:pt>
                <c:pt idx="1">
                  <c:v>0.16235553109521189</c:v>
                </c:pt>
                <c:pt idx="2">
                  <c:v>0.63497571131158914</c:v>
                </c:pt>
                <c:pt idx="3">
                  <c:v>9.0354782139484682E-2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8F-43C2-90BF-57E72B59F18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35694912"/>
        <c:axId val="635693472"/>
      </c:barChart>
      <c:catAx>
        <c:axId val="635694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5693472"/>
        <c:crosses val="autoZero"/>
        <c:auto val="1"/>
        <c:lblAlgn val="ctr"/>
        <c:lblOffset val="100"/>
        <c:noMultiLvlLbl val="0"/>
      </c:catAx>
      <c:valAx>
        <c:axId val="635693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56949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[marketing.xlsx]bivariate!PivotTable7</c:name>
    <c:fmtId val="6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Month vs Subscription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bivariate!$B$33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bivariate!$A$34:$A$46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bivariate!$B$34:$B$46</c:f>
              <c:numCache>
                <c:formatCode>0.00%</c:formatCode>
                <c:ptCount val="12"/>
                <c:pt idx="0">
                  <c:v>0.10092395167022032</c:v>
                </c:pt>
                <c:pt idx="1">
                  <c:v>0.16334960570784829</c:v>
                </c:pt>
                <c:pt idx="2">
                  <c:v>0.51875000000000004</c:v>
                </c:pt>
                <c:pt idx="3">
                  <c:v>0.1959322033898305</c:v>
                </c:pt>
                <c:pt idx="4">
                  <c:v>6.6840089601849839E-2</c:v>
                </c:pt>
                <c:pt idx="5">
                  <c:v>0.10121381886087769</c:v>
                </c:pt>
                <c:pt idx="6">
                  <c:v>8.9187626481642093E-2</c:v>
                </c:pt>
                <c:pt idx="7">
                  <c:v>0.10990933672657865</c:v>
                </c:pt>
                <c:pt idx="8">
                  <c:v>0.45797598627787306</c:v>
                </c:pt>
                <c:pt idx="9">
                  <c:v>0.42857142857142855</c:v>
                </c:pt>
                <c:pt idx="10">
                  <c:v>9.2512139023766926E-2</c:v>
                </c:pt>
                <c:pt idx="11">
                  <c:v>0.47004608294930877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E9-4FD6-8872-2585185401E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1249984"/>
        <c:axId val="131250464"/>
      </c:barChart>
      <c:catAx>
        <c:axId val="131249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250464"/>
        <c:crosses val="autoZero"/>
        <c:auto val="1"/>
        <c:lblAlgn val="ctr"/>
        <c:lblOffset val="100"/>
        <c:noMultiLvlLbl val="0"/>
      </c:catAx>
      <c:valAx>
        <c:axId val="131250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249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lang="en-US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90" name="Google Shape;9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Mention the results of the excel analysis and add the corresponding visualisations to the space provided above. Use copies of the above slide if necessary.</a:t>
            </a:r>
            <a:endParaRPr dirty="0"/>
          </a:p>
        </p:txBody>
      </p:sp>
      <p:sp>
        <p:nvSpPr>
          <p:cNvPr id="97" name="Google Shape;9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Mention the results of the excel  analysis and add the corresponding visualisations to the space provided above. Use copies of the above slide if necessary.</a:t>
            </a:r>
            <a:endParaRPr dirty="0"/>
          </a:p>
        </p:txBody>
      </p:sp>
      <p:sp>
        <p:nvSpPr>
          <p:cNvPr id="97" name="Google Shape;9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4628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Mention the results of the excel  analysis and add the corresponding visualisations to the space provided above. Use copies of the above slide if necessary.</a:t>
            </a:r>
            <a:endParaRPr dirty="0"/>
          </a:p>
        </p:txBody>
      </p:sp>
      <p:sp>
        <p:nvSpPr>
          <p:cNvPr id="97" name="Google Shape;9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8599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Mention the results of the excel  analysis and add the corresponding visualisations to the space provided above. Use copies of the above slide if necessary.</a:t>
            </a:r>
            <a:endParaRPr dirty="0"/>
          </a:p>
        </p:txBody>
      </p:sp>
      <p:sp>
        <p:nvSpPr>
          <p:cNvPr id="97" name="Google Shape;9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41548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Mention the results of the excel  analysis and add the corresponding visualisations to the space provided above. Use copies of the above slide if necessary.</a:t>
            </a:r>
            <a:endParaRPr dirty="0"/>
          </a:p>
        </p:txBody>
      </p:sp>
      <p:sp>
        <p:nvSpPr>
          <p:cNvPr id="97" name="Google Shape;9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5676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Mention the results of the excel  analysis and add the corresponding visualisations to the space provided above. Use copies of the above slide if necessary.</a:t>
            </a:r>
            <a:endParaRPr dirty="0"/>
          </a:p>
        </p:txBody>
      </p:sp>
      <p:sp>
        <p:nvSpPr>
          <p:cNvPr id="97" name="Google Shape;9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80595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Mention the results of the excel  analysis and add the corresponding visualisations to the space provided above. Use copies of the above slide if necessary.</a:t>
            </a:r>
            <a:endParaRPr dirty="0"/>
          </a:p>
        </p:txBody>
      </p:sp>
      <p:sp>
        <p:nvSpPr>
          <p:cNvPr id="97" name="Google Shape;9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98915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Mention the results of the excel  analysis and add the corresponding visualisations to the space provided above. Use copies of the above slide if necessary.</a:t>
            </a:r>
            <a:endParaRPr dirty="0"/>
          </a:p>
        </p:txBody>
      </p:sp>
      <p:sp>
        <p:nvSpPr>
          <p:cNvPr id="97" name="Google Shape;9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82137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7" name="Google Shape;9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64822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7" name="Google Shape;9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6576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Lato"/>
                <a:ea typeface="Lato"/>
                <a:cs typeface="Lato"/>
                <a:sym typeface="Lato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Lato"/>
                <a:ea typeface="Lato"/>
                <a:cs typeface="Lato"/>
                <a:sym typeface="Lato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Lato"/>
                <a:ea typeface="Lato"/>
                <a:cs typeface="Lato"/>
                <a:sym typeface="Lato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Lato"/>
                <a:ea typeface="Lato"/>
                <a:cs typeface="Lato"/>
                <a:sym typeface="Lato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Lato"/>
                <a:ea typeface="Lato"/>
                <a:cs typeface="Lato"/>
                <a:sym typeface="Lato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ato"/>
              <a:buNone/>
              <a:defRPr sz="60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ato"/>
              <a:buNone/>
              <a:defRPr sz="60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Lato"/>
                <a:ea typeface="Lato"/>
                <a:cs typeface="Lato"/>
                <a:sym typeface="Lato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Lato"/>
                <a:ea typeface="Lato"/>
                <a:cs typeface="Lato"/>
                <a:sym typeface="Lato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Lato"/>
                <a:ea typeface="Lato"/>
                <a:cs typeface="Lato"/>
                <a:sym typeface="Lato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Lato"/>
                <a:ea typeface="Lato"/>
                <a:cs typeface="Lato"/>
                <a:sym typeface="Lato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Lato"/>
                <a:ea typeface="Lato"/>
                <a:cs typeface="Lato"/>
                <a:sym typeface="Lato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Lato"/>
                <a:ea typeface="Lato"/>
                <a:cs typeface="Lato"/>
                <a:sym typeface="Lato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Lato"/>
                <a:ea typeface="Lato"/>
                <a:cs typeface="Lato"/>
                <a:sym typeface="Lato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Lato"/>
                <a:ea typeface="Lato"/>
                <a:cs typeface="Lato"/>
                <a:sym typeface="Lato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Lato"/>
                <a:ea typeface="Lato"/>
                <a:cs typeface="Lato"/>
                <a:sym typeface="Lato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Lato"/>
                <a:ea typeface="Lato"/>
                <a:cs typeface="Lato"/>
                <a:sym typeface="Lato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Lato"/>
                <a:ea typeface="Lato"/>
                <a:cs typeface="Lato"/>
                <a:sym typeface="Lato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Lato"/>
                <a:ea typeface="Lato"/>
                <a:cs typeface="Lato"/>
                <a:sym typeface="Lato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Lato"/>
                <a:ea typeface="Lato"/>
                <a:cs typeface="Lato"/>
                <a:sym typeface="Lato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Lato"/>
                <a:ea typeface="Lato"/>
                <a:cs typeface="Lato"/>
                <a:sym typeface="Lato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Lato"/>
                <a:ea typeface="Lato"/>
                <a:cs typeface="Lato"/>
                <a:sym typeface="Lato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Lato"/>
                <a:ea typeface="Lato"/>
                <a:cs typeface="Lato"/>
                <a:sym typeface="Lato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Lato"/>
                <a:ea typeface="Lato"/>
                <a:cs typeface="Lato"/>
                <a:sym typeface="Lato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Lato"/>
                <a:ea typeface="Lato"/>
                <a:cs typeface="Lato"/>
                <a:sym typeface="Lato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Lato"/>
                <a:ea typeface="Lato"/>
                <a:cs typeface="Lato"/>
                <a:sym typeface="Lato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Lato"/>
                <a:ea typeface="Lato"/>
                <a:cs typeface="Lato"/>
                <a:sym typeface="Lato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  <a:defRPr sz="32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Lato"/>
                <a:ea typeface="Lato"/>
                <a:cs typeface="Lato"/>
                <a:sym typeface="Lato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Lato"/>
                <a:ea typeface="Lato"/>
                <a:cs typeface="Lato"/>
                <a:sym typeface="Lato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Lato"/>
                <a:ea typeface="Lato"/>
                <a:cs typeface="Lato"/>
                <a:sym typeface="Lato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  <a:defRPr sz="32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Lato"/>
                <a:ea typeface="Lato"/>
                <a:cs typeface="Lato"/>
                <a:sym typeface="Lato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Lato"/>
                <a:ea typeface="Lato"/>
                <a:cs typeface="Lato"/>
                <a:sym typeface="Lato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Lato"/>
                <a:ea typeface="Lato"/>
                <a:cs typeface="Lato"/>
                <a:sym typeface="Lato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Lato"/>
                <a:ea typeface="Lato"/>
                <a:cs typeface="Lato"/>
                <a:sym typeface="Lato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Lato"/>
                <a:ea typeface="Lato"/>
                <a:cs typeface="Lato"/>
                <a:sym typeface="Lato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Lato"/>
                <a:ea typeface="Lato"/>
                <a:cs typeface="Lato"/>
                <a:sym typeface="Lato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Lato"/>
                <a:ea typeface="Lato"/>
                <a:cs typeface="Lato"/>
                <a:sym typeface="Lato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Lato"/>
                <a:ea typeface="Lato"/>
                <a:cs typeface="Lato"/>
                <a:sym typeface="Lato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Lato"/>
                <a:ea typeface="Lato"/>
                <a:cs typeface="Lato"/>
                <a:sym typeface="Lato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Lato"/>
                <a:ea typeface="Lato"/>
                <a:cs typeface="Lato"/>
                <a:sym typeface="Lato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ato"/>
              <a:buNone/>
              <a:defRPr sz="4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>
            <a:off x="1446847" y="622499"/>
            <a:ext cx="9877789" cy="739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43F3C"/>
              </a:buClr>
              <a:buSzPts val="3600"/>
              <a:buFont typeface="Lato"/>
              <a:buNone/>
            </a:pPr>
            <a:r>
              <a:rPr lang="en-US" sz="3600" b="1">
                <a:solidFill>
                  <a:srgbClr val="F43F3C"/>
                </a:solidFill>
              </a:rPr>
              <a:t>ASSIGNMENT GUIDELINES</a:t>
            </a:r>
            <a:endParaRPr/>
          </a:p>
        </p:txBody>
      </p:sp>
      <p:sp>
        <p:nvSpPr>
          <p:cNvPr id="85" name="Google Shape;85;p12"/>
          <p:cNvSpPr txBox="1"/>
          <p:nvPr/>
        </p:nvSpPr>
        <p:spPr>
          <a:xfrm>
            <a:off x="602478" y="1526520"/>
            <a:ext cx="10987044" cy="47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Make </a:t>
            </a:r>
            <a:r>
              <a:rPr lang="en-US" sz="2000" dirty="0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the changes in the</a:t>
            </a:r>
            <a:r>
              <a:rPr lang="en-US" sz="2000" b="0" i="0" u="none" strike="noStrike" cap="none" dirty="0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 PPT </a:t>
            </a:r>
            <a:r>
              <a:rPr lang="en-US" sz="2000" dirty="0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as you solve the parts</a:t>
            </a:r>
            <a:endParaRPr dirty="0"/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This file contains the template for </a:t>
            </a:r>
            <a:r>
              <a:rPr lang="en-IN" sz="2000" b="0" i="0" u="none" strike="noStrike" cap="none" dirty="0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IN" sz="2000" b="1" i="0" u="none" strike="noStrike" cap="none" dirty="0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EDA part </a:t>
            </a:r>
            <a:r>
              <a:rPr lang="en-IN" sz="2000" b="0" i="0" u="none" strike="noStrike" cap="none" dirty="0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of the project.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Check the instructions added in the note section of every slide for clarity.</a:t>
            </a:r>
            <a:endParaRPr sz="2000" b="0" i="0" u="none" strike="noStrike" cap="none" dirty="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Don’t move around any image or text box</a:t>
            </a:r>
            <a:endParaRPr sz="2000" b="0" i="0" u="none" strike="noStrike" cap="none" dirty="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If you require more/lesser elements, be careful when you copy/delete the existing ones.</a:t>
            </a:r>
            <a:endParaRPr dirty="0"/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6" name="Google Shape;86;p12" descr="A close up of a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13895" y="171493"/>
            <a:ext cx="1648553" cy="451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838200" y="118958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000" b="1" dirty="0">
                <a:solidFill>
                  <a:srgbClr val="EF413D"/>
                </a:solidFill>
              </a:rPr>
              <a:t>ASSIGNMENT</a:t>
            </a:r>
            <a:br>
              <a:rPr lang="en-US" sz="4000" b="1" dirty="0">
                <a:solidFill>
                  <a:srgbClr val="EF413D"/>
                </a:solidFill>
              </a:rPr>
            </a:br>
            <a:r>
              <a:rPr lang="en-US" sz="1100" b="1" dirty="0">
                <a:solidFill>
                  <a:srgbClr val="EF413D"/>
                </a:solidFill>
              </a:rPr>
              <a:t> </a:t>
            </a:r>
            <a:br>
              <a:rPr lang="en-US" sz="4000" b="1" dirty="0"/>
            </a:br>
            <a:r>
              <a:rPr lang="en-US" sz="3400" dirty="0">
                <a:solidFill>
                  <a:srgbClr val="5A5A5A"/>
                </a:solidFill>
              </a:rPr>
              <a:t>Name: Rahul Kumar</a:t>
            </a:r>
            <a:endParaRPr dirty="0">
              <a:solidFill>
                <a:srgbClr val="5A5A5A"/>
              </a:solidFill>
            </a:endParaRPr>
          </a:p>
        </p:txBody>
      </p:sp>
      <p:sp>
        <p:nvSpPr>
          <p:cNvPr id="93" name="Google Shape;93;p13"/>
          <p:cNvSpPr txBox="1">
            <a:spLocks noGrp="1"/>
          </p:cNvSpPr>
          <p:nvPr>
            <p:ph type="body" idx="1"/>
          </p:nvPr>
        </p:nvSpPr>
        <p:spPr>
          <a:xfrm>
            <a:off x="725659" y="2515151"/>
            <a:ext cx="10515600" cy="4110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400" dirty="0">
                <a:solidFill>
                  <a:srgbClr val="EF413D"/>
                </a:solidFill>
              </a:rPr>
              <a:t>Problem Statement</a:t>
            </a:r>
            <a:br>
              <a:rPr lang="en-US" dirty="0"/>
            </a:br>
            <a:r>
              <a:rPr lang="en-US" sz="1400" dirty="0"/>
              <a:t> </a:t>
            </a:r>
          </a:p>
          <a:p>
            <a:pPr marL="50800" lvl="0" indent="0">
              <a:buNone/>
            </a:pPr>
            <a:r>
              <a:rPr lang="en-IN" sz="2000" b="1" dirty="0">
                <a:solidFill>
                  <a:srgbClr val="5A5A5A"/>
                </a:solidFill>
              </a:rPr>
              <a:t>Bank of Corporate </a:t>
            </a:r>
            <a:r>
              <a:rPr lang="en-US" sz="2000" dirty="0"/>
              <a:t>conducted a telemarketing campaign for one of its financial products ‘Term deposits’ to build a long-term relationship with the existing customers. These campaigns need to be cost efficient such that the bank not only increases their overall revenues but also the total profit. </a:t>
            </a:r>
          </a:p>
          <a:p>
            <a:pPr marL="50800" lvl="0" indent="0">
              <a:buNone/>
            </a:pPr>
            <a:endParaRPr lang="en-US" sz="2000" dirty="0"/>
          </a:p>
          <a:p>
            <a:pPr marL="50800" lvl="0" indent="0">
              <a:buNone/>
            </a:pPr>
            <a:endParaRPr lang="en-US" sz="2000" dirty="0"/>
          </a:p>
          <a:p>
            <a:pPr marL="50800" lvl="0" indent="0">
              <a:buNone/>
            </a:pPr>
            <a:r>
              <a:rPr lang="en-US" sz="2400" dirty="0">
                <a:solidFill>
                  <a:srgbClr val="EF413D"/>
                </a:solidFill>
              </a:rPr>
              <a:t>Assignment Objective</a:t>
            </a:r>
            <a:endParaRPr sz="2400" dirty="0">
              <a:solidFill>
                <a:srgbClr val="EF413D"/>
              </a:solidFill>
            </a:endParaRPr>
          </a:p>
          <a:p>
            <a:pPr marL="50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400" dirty="0"/>
              <a:t> </a:t>
            </a:r>
            <a:endParaRPr sz="2400" dirty="0">
              <a:solidFill>
                <a:srgbClr val="EF413D"/>
              </a:solidFill>
            </a:endParaRPr>
          </a:p>
          <a:p>
            <a:pPr marL="50800" lvl="0" indent="0">
              <a:spcBef>
                <a:spcPts val="0"/>
              </a:spcBef>
              <a:buNone/>
            </a:pPr>
            <a:r>
              <a:rPr lang="en-US" sz="2000" dirty="0"/>
              <a:t>To identify the target customers and the driving factors behind the successful conversion of a customer and optimize future marketing campaigns.</a:t>
            </a:r>
            <a:endParaRPr sz="2000" dirty="0">
              <a:solidFill>
                <a:srgbClr val="5A5A5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500" b="1" dirty="0">
                <a:solidFill>
                  <a:srgbClr val="EF413D"/>
                </a:solidFill>
              </a:rPr>
              <a:t>PART I :  Univariate Analysis</a:t>
            </a:r>
            <a:br>
              <a:rPr lang="en-US" sz="3500" b="1" dirty="0">
                <a:solidFill>
                  <a:srgbClr val="EF413D"/>
                </a:solidFill>
              </a:rPr>
            </a:br>
            <a:r>
              <a:rPr lang="en-US" sz="1000" b="1" dirty="0">
                <a:solidFill>
                  <a:srgbClr val="EF413D"/>
                </a:solidFill>
              </a:rPr>
              <a:t> </a:t>
            </a:r>
            <a:br>
              <a:rPr lang="en-US" b="1" dirty="0"/>
            </a:br>
            <a:r>
              <a:rPr lang="en-US" sz="3000" b="1" dirty="0">
                <a:solidFill>
                  <a:srgbClr val="5A5A5A"/>
                </a:solidFill>
              </a:rPr>
              <a:t>Marketing Campaign Optimization</a:t>
            </a:r>
            <a:endParaRPr sz="3000" dirty="0"/>
          </a:p>
        </p:txBody>
      </p:sp>
      <p:sp>
        <p:nvSpPr>
          <p:cNvPr id="9" name="Google Shape;219;p28">
            <a:extLst>
              <a:ext uri="{FF2B5EF4-FFF2-40B4-BE49-F238E27FC236}">
                <a16:creationId xmlns:a16="http://schemas.microsoft.com/office/drawing/2014/main" id="{947E1549-BDA8-4512-9BAD-A4E03C1A8752}"/>
              </a:ext>
            </a:extLst>
          </p:cNvPr>
          <p:cNvSpPr txBox="1"/>
          <p:nvPr/>
        </p:nvSpPr>
        <p:spPr>
          <a:xfrm>
            <a:off x="514663" y="1599228"/>
            <a:ext cx="11162674" cy="4893647"/>
          </a:xfrm>
          <a:prstGeom prst="rect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Variable under consideration:</a:t>
            </a: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Lato"/>
                <a:ea typeface="Lato"/>
                <a:cs typeface="Lato"/>
                <a:sym typeface="Lato"/>
              </a:rPr>
              <a:t>Variable used</a:t>
            </a:r>
            <a:r>
              <a:rPr lang="en-IN" dirty="0">
                <a:latin typeface="Lato"/>
                <a:ea typeface="Lato"/>
                <a:cs typeface="Lato"/>
                <a:sym typeface="Lato"/>
              </a:rPr>
              <a:t>: Age</a:t>
            </a:r>
            <a:br>
              <a:rPr lang="en-IN" dirty="0">
                <a:latin typeface="Lato"/>
                <a:ea typeface="Lato"/>
                <a:cs typeface="Lato"/>
                <a:sym typeface="Lato"/>
              </a:rPr>
            </a:br>
            <a:r>
              <a:rPr lang="en-IN" b="1" dirty="0">
                <a:latin typeface="Lato"/>
                <a:ea typeface="Lato"/>
                <a:cs typeface="Lato"/>
                <a:sym typeface="Lato"/>
              </a:rPr>
              <a:t>Observation: 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Lato"/>
                <a:ea typeface="Lato"/>
                <a:cs typeface="Lato"/>
                <a:sym typeface="Lato"/>
              </a:rPr>
              <a:t>As we can see our majority of customers lies between 24-60. This can be considered as most working group. We can also observe after 60 a steep decline in customers.</a:t>
            </a: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61F6C7B-976E-B58C-8A7F-AB6D12AD00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252798"/>
              </p:ext>
            </p:extLst>
          </p:nvPr>
        </p:nvGraphicFramePr>
        <p:xfrm>
          <a:off x="838200" y="2158999"/>
          <a:ext cx="10515600" cy="2729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500" b="1" dirty="0">
                <a:solidFill>
                  <a:srgbClr val="EF413D"/>
                </a:solidFill>
              </a:rPr>
              <a:t>PART I :  Univariate Analysis</a:t>
            </a:r>
            <a:br>
              <a:rPr lang="en-US" sz="3500" b="1" dirty="0">
                <a:solidFill>
                  <a:srgbClr val="EF413D"/>
                </a:solidFill>
              </a:rPr>
            </a:br>
            <a:r>
              <a:rPr lang="en-US" sz="1000" b="1" dirty="0">
                <a:solidFill>
                  <a:srgbClr val="EF413D"/>
                </a:solidFill>
              </a:rPr>
              <a:t> </a:t>
            </a:r>
            <a:br>
              <a:rPr lang="en-US" b="1" dirty="0"/>
            </a:br>
            <a:r>
              <a:rPr lang="en-US" sz="3000" b="1" dirty="0">
                <a:solidFill>
                  <a:srgbClr val="5A5A5A"/>
                </a:solidFill>
              </a:rPr>
              <a:t>Marketing Campaign Optimisation</a:t>
            </a:r>
            <a:endParaRPr sz="3000" dirty="0"/>
          </a:p>
        </p:txBody>
      </p:sp>
      <p:sp>
        <p:nvSpPr>
          <p:cNvPr id="9" name="Google Shape;219;p28">
            <a:extLst>
              <a:ext uri="{FF2B5EF4-FFF2-40B4-BE49-F238E27FC236}">
                <a16:creationId xmlns:a16="http://schemas.microsoft.com/office/drawing/2014/main" id="{947E1549-BDA8-4512-9BAD-A4E03C1A8752}"/>
              </a:ext>
            </a:extLst>
          </p:cNvPr>
          <p:cNvSpPr txBox="1"/>
          <p:nvPr/>
        </p:nvSpPr>
        <p:spPr>
          <a:xfrm>
            <a:off x="514663" y="1599228"/>
            <a:ext cx="11162674" cy="4893647"/>
          </a:xfrm>
          <a:prstGeom prst="rect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Variable under consideration:</a:t>
            </a: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600" b="1" dirty="0">
                <a:latin typeface="Lato"/>
                <a:ea typeface="Lato"/>
                <a:cs typeface="Lato"/>
                <a:sym typeface="Lato"/>
              </a:rPr>
            </a:br>
            <a:br>
              <a:rPr lang="en-IN" dirty="0">
                <a:latin typeface="Lato"/>
                <a:ea typeface="Lato"/>
                <a:cs typeface="Lato"/>
                <a:sym typeface="Lato"/>
              </a:rPr>
            </a:b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Observation: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Lato"/>
                <a:ea typeface="Lato"/>
                <a:cs typeface="Lato"/>
                <a:sym typeface="Lato"/>
              </a:rPr>
              <a:t>In the month of may 30.62% calls was made higher then others call shares.</a:t>
            </a: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A77B866-9DF2-D1E6-4A69-4822771C41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1598834"/>
              </p:ext>
            </p:extLst>
          </p:nvPr>
        </p:nvGraphicFramePr>
        <p:xfrm>
          <a:off x="722489" y="2111022"/>
          <a:ext cx="10631311" cy="3147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05039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500" b="1" dirty="0">
                <a:solidFill>
                  <a:srgbClr val="EF413D"/>
                </a:solidFill>
              </a:rPr>
              <a:t>PART I :  Univariate Analysis</a:t>
            </a:r>
            <a:br>
              <a:rPr lang="en-US" sz="3500" b="1" dirty="0">
                <a:solidFill>
                  <a:srgbClr val="EF413D"/>
                </a:solidFill>
              </a:rPr>
            </a:br>
            <a:r>
              <a:rPr lang="en-US" sz="1000" b="1" dirty="0">
                <a:solidFill>
                  <a:srgbClr val="EF413D"/>
                </a:solidFill>
              </a:rPr>
              <a:t> </a:t>
            </a:r>
            <a:br>
              <a:rPr lang="en-US" b="1" dirty="0"/>
            </a:br>
            <a:r>
              <a:rPr lang="en-US" sz="3000" b="1" dirty="0">
                <a:solidFill>
                  <a:srgbClr val="5A5A5A"/>
                </a:solidFill>
              </a:rPr>
              <a:t>Marketing Campaign Optimisation</a:t>
            </a:r>
            <a:endParaRPr sz="3000" dirty="0"/>
          </a:p>
        </p:txBody>
      </p:sp>
      <p:sp>
        <p:nvSpPr>
          <p:cNvPr id="9" name="Google Shape;219;p28">
            <a:extLst>
              <a:ext uri="{FF2B5EF4-FFF2-40B4-BE49-F238E27FC236}">
                <a16:creationId xmlns:a16="http://schemas.microsoft.com/office/drawing/2014/main" id="{947E1549-BDA8-4512-9BAD-A4E03C1A8752}"/>
              </a:ext>
            </a:extLst>
          </p:cNvPr>
          <p:cNvSpPr txBox="1"/>
          <p:nvPr/>
        </p:nvSpPr>
        <p:spPr>
          <a:xfrm>
            <a:off x="722489" y="1599228"/>
            <a:ext cx="11162674" cy="4893647"/>
          </a:xfrm>
          <a:prstGeom prst="rect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Variable under consideration:</a:t>
            </a: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b="1" dirty="0">
                <a:latin typeface="Lato"/>
                <a:ea typeface="Lato"/>
                <a:cs typeface="Lato"/>
                <a:sym typeface="Lato"/>
              </a:rPr>
              <a:t>Observation: 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Lato"/>
                <a:ea typeface="Lato"/>
                <a:cs typeface="Lato"/>
                <a:sym typeface="Lato"/>
              </a:rPr>
              <a:t>Majority of customers in blue-collar job and followed by management segment.</a:t>
            </a: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55F4442-FE63-4568-2BF9-3DFAEB33C5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8924566"/>
              </p:ext>
            </p:extLst>
          </p:nvPr>
        </p:nvGraphicFramePr>
        <p:xfrm>
          <a:off x="722489" y="2043289"/>
          <a:ext cx="10631311" cy="2889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98533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500" b="1" dirty="0">
                <a:solidFill>
                  <a:srgbClr val="EF413D"/>
                </a:solidFill>
              </a:rPr>
              <a:t>PART I :  Univariate Analysis</a:t>
            </a:r>
            <a:br>
              <a:rPr lang="en-US" sz="3500" b="1" dirty="0">
                <a:solidFill>
                  <a:srgbClr val="EF413D"/>
                </a:solidFill>
              </a:rPr>
            </a:br>
            <a:r>
              <a:rPr lang="en-US" sz="1000" b="1" dirty="0">
                <a:solidFill>
                  <a:srgbClr val="EF413D"/>
                </a:solidFill>
              </a:rPr>
              <a:t> </a:t>
            </a:r>
            <a:br>
              <a:rPr lang="en-US" b="1" dirty="0"/>
            </a:br>
            <a:r>
              <a:rPr lang="en-US" sz="3000" b="1" dirty="0">
                <a:solidFill>
                  <a:srgbClr val="5A5A5A"/>
                </a:solidFill>
              </a:rPr>
              <a:t>Marketing Campaign Optimisation</a:t>
            </a:r>
            <a:endParaRPr sz="3000" dirty="0"/>
          </a:p>
        </p:txBody>
      </p:sp>
      <p:sp>
        <p:nvSpPr>
          <p:cNvPr id="9" name="Google Shape;219;p28">
            <a:extLst>
              <a:ext uri="{FF2B5EF4-FFF2-40B4-BE49-F238E27FC236}">
                <a16:creationId xmlns:a16="http://schemas.microsoft.com/office/drawing/2014/main" id="{947E1549-BDA8-4512-9BAD-A4E03C1A8752}"/>
              </a:ext>
            </a:extLst>
          </p:cNvPr>
          <p:cNvSpPr txBox="1"/>
          <p:nvPr/>
        </p:nvSpPr>
        <p:spPr>
          <a:xfrm>
            <a:off x="729152" y="1599228"/>
            <a:ext cx="11162674" cy="4893647"/>
          </a:xfrm>
          <a:prstGeom prst="rect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Variable under consideration:</a:t>
            </a: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latin typeface="Lato"/>
                <a:ea typeface="Lato"/>
                <a:cs typeface="Lato"/>
                <a:sym typeface="Lato"/>
              </a:rPr>
              <a:t>Marital Status</a:t>
            </a:r>
            <a:endParaRPr lang="en-IN" sz="1600" b="1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br>
              <a:rPr lang="en-IN" dirty="0">
                <a:latin typeface="Lato"/>
                <a:ea typeface="Lato"/>
                <a:cs typeface="Lato"/>
                <a:sym typeface="Lato"/>
              </a:rPr>
            </a:br>
            <a:r>
              <a:rPr lang="en-IN" b="1" dirty="0">
                <a:latin typeface="Lato"/>
                <a:ea typeface="Lato"/>
                <a:cs typeface="Lato"/>
                <a:sym typeface="Lato"/>
              </a:rPr>
              <a:t>Observation: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Lato"/>
                <a:ea typeface="Lato"/>
                <a:cs typeface="Lato"/>
                <a:sym typeface="Lato"/>
              </a:rPr>
              <a:t>Bank called most on Sundays 21.04% as Sunday is non working day for many working professional.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 our observation on Wednesday least call 1.12%. </a:t>
            </a: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B8C3A96-DB34-BE06-3153-700C18EB47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7023206"/>
              </p:ext>
            </p:extLst>
          </p:nvPr>
        </p:nvGraphicFramePr>
        <p:xfrm>
          <a:off x="838200" y="2204156"/>
          <a:ext cx="10947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74162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E5B2D-4FFE-399D-FCCA-23098E774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933" y="485423"/>
            <a:ext cx="9889067" cy="1114778"/>
          </a:xfrm>
        </p:spPr>
        <p:txBody>
          <a:bodyPr/>
          <a:lstStyle/>
          <a:p>
            <a:r>
              <a:rPr lang="en-US" sz="3500" b="1" dirty="0">
                <a:solidFill>
                  <a:srgbClr val="EF413D"/>
                </a:solidFill>
              </a:rPr>
              <a:t>PART I :  Univariate Analysis </a:t>
            </a:r>
            <a:br>
              <a:rPr lang="en-US" sz="3500" b="1" dirty="0"/>
            </a:br>
            <a:r>
              <a:rPr lang="en-US" sz="3500" b="1" dirty="0">
                <a:solidFill>
                  <a:srgbClr val="5A5A5A"/>
                </a:solidFill>
              </a:rPr>
              <a:t>Marketing Campaign Optimization</a:t>
            </a:r>
            <a:endParaRPr lang="en-IN" sz="35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01A5DD-7988-6633-30F0-48B2D6FAAF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311" y="1682045"/>
            <a:ext cx="11672711" cy="3680177"/>
          </a:xfrm>
        </p:spPr>
        <p:txBody>
          <a:bodyPr/>
          <a:lstStyle/>
          <a:p>
            <a:pPr algn="l"/>
            <a:r>
              <a:rPr lang="en-US" sz="1800" b="1" dirty="0">
                <a:solidFill>
                  <a:srgbClr val="000000"/>
                </a:solidFill>
              </a:rPr>
              <a:t>Variable under consideration:</a:t>
            </a:r>
          </a:p>
          <a:p>
            <a:pPr algn="l"/>
            <a:endParaRPr lang="en-US" sz="1800" b="1" dirty="0">
              <a:solidFill>
                <a:srgbClr val="000000"/>
              </a:solidFill>
            </a:endParaRPr>
          </a:p>
          <a:p>
            <a:pPr algn="l"/>
            <a:endParaRPr lang="en-US" sz="1800" b="1" dirty="0">
              <a:solidFill>
                <a:srgbClr val="000000"/>
              </a:solidFill>
            </a:endParaRPr>
          </a:p>
          <a:p>
            <a:pPr algn="l"/>
            <a:endParaRPr lang="en-IN" sz="1400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69632E5-C8E6-FB7E-AD42-6E42632B4F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4186752"/>
              </p:ext>
            </p:extLst>
          </p:nvPr>
        </p:nvGraphicFramePr>
        <p:xfrm>
          <a:off x="237068" y="2286000"/>
          <a:ext cx="11774310" cy="30762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D69CCE1-7FAA-F98E-D449-0D1658A6D416}"/>
              </a:ext>
            </a:extLst>
          </p:cNvPr>
          <p:cNvSpPr txBox="1"/>
          <p:nvPr/>
        </p:nvSpPr>
        <p:spPr>
          <a:xfrm>
            <a:off x="237068" y="5489221"/>
            <a:ext cx="5339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Observation: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51% customers has masters degree followed by doctorate.</a:t>
            </a:r>
          </a:p>
        </p:txBody>
      </p:sp>
    </p:spTree>
    <p:extLst>
      <p:ext uri="{BB962C8B-B14F-4D97-AF65-F5344CB8AC3E}">
        <p14:creationId xmlns:p14="http://schemas.microsoft.com/office/powerpoint/2010/main" val="2689793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500" b="1" dirty="0">
                <a:solidFill>
                  <a:srgbClr val="EF413D"/>
                </a:solidFill>
              </a:rPr>
              <a:t>PART II :  Bivariate Analysis</a:t>
            </a:r>
            <a:br>
              <a:rPr lang="en-US" sz="3500" b="1" dirty="0">
                <a:solidFill>
                  <a:srgbClr val="EF413D"/>
                </a:solidFill>
              </a:rPr>
            </a:br>
            <a:r>
              <a:rPr lang="en-US" sz="1000" b="1" dirty="0">
                <a:solidFill>
                  <a:srgbClr val="EF413D"/>
                </a:solidFill>
              </a:rPr>
              <a:t> </a:t>
            </a:r>
            <a:br>
              <a:rPr lang="en-US" b="1" dirty="0"/>
            </a:br>
            <a:r>
              <a:rPr lang="en-US" sz="3000" b="1" dirty="0">
                <a:solidFill>
                  <a:srgbClr val="5A5A5A"/>
                </a:solidFill>
              </a:rPr>
              <a:t>Marketing Campaign Optimisation</a:t>
            </a:r>
            <a:endParaRPr sz="3000" dirty="0"/>
          </a:p>
        </p:txBody>
      </p:sp>
      <p:sp>
        <p:nvSpPr>
          <p:cNvPr id="9" name="Google Shape;219;p28">
            <a:extLst>
              <a:ext uri="{FF2B5EF4-FFF2-40B4-BE49-F238E27FC236}">
                <a16:creationId xmlns:a16="http://schemas.microsoft.com/office/drawing/2014/main" id="{947E1549-BDA8-4512-9BAD-A4E03C1A8752}"/>
              </a:ext>
            </a:extLst>
          </p:cNvPr>
          <p:cNvSpPr txBox="1"/>
          <p:nvPr/>
        </p:nvSpPr>
        <p:spPr>
          <a:xfrm>
            <a:off x="514662" y="1599228"/>
            <a:ext cx="11162674" cy="4893647"/>
          </a:xfrm>
          <a:prstGeom prst="rect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Variables under consideration:</a:t>
            </a: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dirty="0">
                <a:latin typeface="Lato"/>
                <a:ea typeface="Lato"/>
                <a:cs typeface="Lato"/>
                <a:sym typeface="Lato"/>
              </a:rPr>
              <a:t>Observation: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Lato"/>
                <a:ea typeface="Lato"/>
                <a:cs typeface="Lato"/>
                <a:sym typeface="Lato"/>
              </a:rPr>
              <a:t>Average Subscription conversion is higher in unmarried people with 14.59%. So best to target single people.</a:t>
            </a: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BCBB742-B276-207D-A588-A035E42185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9147819"/>
              </p:ext>
            </p:extLst>
          </p:nvPr>
        </p:nvGraphicFramePr>
        <p:xfrm>
          <a:off x="838199" y="2057400"/>
          <a:ext cx="10839137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99987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500" b="1" dirty="0">
                <a:solidFill>
                  <a:srgbClr val="EF413D"/>
                </a:solidFill>
              </a:rPr>
              <a:t>PART II :  Bivariate Analysis</a:t>
            </a:r>
            <a:br>
              <a:rPr lang="en-US" sz="3500" b="1" dirty="0">
                <a:solidFill>
                  <a:srgbClr val="EF413D"/>
                </a:solidFill>
              </a:rPr>
            </a:br>
            <a:r>
              <a:rPr lang="en-US" sz="1000" b="1" dirty="0">
                <a:solidFill>
                  <a:srgbClr val="EF413D"/>
                </a:solidFill>
              </a:rPr>
              <a:t> </a:t>
            </a:r>
            <a:br>
              <a:rPr lang="en-US" b="1" dirty="0"/>
            </a:br>
            <a:r>
              <a:rPr lang="en-US" sz="3000" b="1" dirty="0">
                <a:solidFill>
                  <a:srgbClr val="5A5A5A"/>
                </a:solidFill>
              </a:rPr>
              <a:t>Marketing Campaign Optimisation</a:t>
            </a:r>
            <a:endParaRPr sz="3000" dirty="0"/>
          </a:p>
        </p:txBody>
      </p:sp>
      <p:sp>
        <p:nvSpPr>
          <p:cNvPr id="9" name="Google Shape;219;p28">
            <a:extLst>
              <a:ext uri="{FF2B5EF4-FFF2-40B4-BE49-F238E27FC236}">
                <a16:creationId xmlns:a16="http://schemas.microsoft.com/office/drawing/2014/main" id="{947E1549-BDA8-4512-9BAD-A4E03C1A8752}"/>
              </a:ext>
            </a:extLst>
          </p:cNvPr>
          <p:cNvSpPr txBox="1"/>
          <p:nvPr/>
        </p:nvSpPr>
        <p:spPr>
          <a:xfrm>
            <a:off x="514663" y="1599228"/>
            <a:ext cx="11162674" cy="4893647"/>
          </a:xfrm>
          <a:prstGeom prst="rect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Variables under consideration:</a:t>
            </a: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Observation :</a:t>
            </a:r>
            <a:endParaRPr lang="en-IN"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As we can observe those are having doctorate there subscription chances is higher then Bachelors and masters.</a:t>
            </a: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4B788C3-A6E4-1EDB-4F96-F6CFF04AFC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7342645"/>
              </p:ext>
            </p:extLst>
          </p:nvPr>
        </p:nvGraphicFramePr>
        <p:xfrm>
          <a:off x="838200" y="2057400"/>
          <a:ext cx="10515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33053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500" b="1" dirty="0">
                <a:solidFill>
                  <a:srgbClr val="EF413D"/>
                </a:solidFill>
              </a:rPr>
              <a:t>PART II :  Bivariate Analysis</a:t>
            </a:r>
            <a:br>
              <a:rPr lang="en-US" sz="3500" b="1" dirty="0">
                <a:solidFill>
                  <a:srgbClr val="EF413D"/>
                </a:solidFill>
              </a:rPr>
            </a:br>
            <a:r>
              <a:rPr lang="en-US" sz="1000" b="1" dirty="0">
                <a:solidFill>
                  <a:srgbClr val="EF413D"/>
                </a:solidFill>
              </a:rPr>
              <a:t> </a:t>
            </a:r>
            <a:br>
              <a:rPr lang="en-US" b="1" dirty="0"/>
            </a:br>
            <a:r>
              <a:rPr lang="en-US" sz="3000" b="1" dirty="0">
                <a:solidFill>
                  <a:srgbClr val="5A5A5A"/>
                </a:solidFill>
              </a:rPr>
              <a:t>Marketing Campaign Optimisation</a:t>
            </a:r>
            <a:endParaRPr sz="3000" dirty="0"/>
          </a:p>
        </p:txBody>
      </p:sp>
      <p:sp>
        <p:nvSpPr>
          <p:cNvPr id="9" name="Google Shape;219;p28">
            <a:extLst>
              <a:ext uri="{FF2B5EF4-FFF2-40B4-BE49-F238E27FC236}">
                <a16:creationId xmlns:a16="http://schemas.microsoft.com/office/drawing/2014/main" id="{947E1549-BDA8-4512-9BAD-A4E03C1A8752}"/>
              </a:ext>
            </a:extLst>
          </p:cNvPr>
          <p:cNvSpPr txBox="1"/>
          <p:nvPr/>
        </p:nvSpPr>
        <p:spPr>
          <a:xfrm>
            <a:off x="514663" y="1599228"/>
            <a:ext cx="11162674" cy="4893647"/>
          </a:xfrm>
          <a:prstGeom prst="rect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Variables under consideration:</a:t>
            </a: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Lato"/>
                <a:ea typeface="Lato"/>
                <a:cs typeface="Lato"/>
                <a:sym typeface="Lato"/>
              </a:rPr>
              <a:t>Observation:</a:t>
            </a:r>
            <a:endParaRPr lang="en-IN"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Lato"/>
                <a:ea typeface="Lato"/>
                <a:cs typeface="Lato"/>
                <a:sym typeface="Lato"/>
              </a:rPr>
              <a:t>We can observe 63.50% people who are already have subscribed our home loan/personal loan service. So they are more interested in our term deposit. </a:t>
            </a: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009BD3A-6AB4-FDE9-32E7-2DC669F5B5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0990876"/>
              </p:ext>
            </p:extLst>
          </p:nvPr>
        </p:nvGraphicFramePr>
        <p:xfrm>
          <a:off x="688622" y="2057400"/>
          <a:ext cx="10665178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38125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500" b="1" dirty="0">
                <a:solidFill>
                  <a:srgbClr val="EF413D"/>
                </a:solidFill>
              </a:rPr>
              <a:t>PART II :  Bivariate Analysis</a:t>
            </a:r>
            <a:br>
              <a:rPr lang="en-US" sz="3500" b="1" dirty="0">
                <a:solidFill>
                  <a:srgbClr val="EF413D"/>
                </a:solidFill>
              </a:rPr>
            </a:br>
            <a:r>
              <a:rPr lang="en-US" sz="1000" b="1" dirty="0">
                <a:solidFill>
                  <a:srgbClr val="EF413D"/>
                </a:solidFill>
              </a:rPr>
              <a:t> </a:t>
            </a:r>
            <a:br>
              <a:rPr lang="en-US" b="1" dirty="0"/>
            </a:br>
            <a:r>
              <a:rPr lang="en-US" sz="3000" b="1" dirty="0">
                <a:solidFill>
                  <a:srgbClr val="5A5A5A"/>
                </a:solidFill>
              </a:rPr>
              <a:t>Marketing Campaign Optimisation</a:t>
            </a:r>
            <a:endParaRPr sz="3000" dirty="0"/>
          </a:p>
        </p:txBody>
      </p:sp>
      <p:sp>
        <p:nvSpPr>
          <p:cNvPr id="9" name="Google Shape;219;p28">
            <a:extLst>
              <a:ext uri="{FF2B5EF4-FFF2-40B4-BE49-F238E27FC236}">
                <a16:creationId xmlns:a16="http://schemas.microsoft.com/office/drawing/2014/main" id="{947E1549-BDA8-4512-9BAD-A4E03C1A8752}"/>
              </a:ext>
            </a:extLst>
          </p:cNvPr>
          <p:cNvSpPr txBox="1"/>
          <p:nvPr/>
        </p:nvSpPr>
        <p:spPr>
          <a:xfrm>
            <a:off x="514663" y="1599228"/>
            <a:ext cx="11162674" cy="4893647"/>
          </a:xfrm>
          <a:prstGeom prst="rect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Variables under consideration:</a:t>
            </a: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Lato"/>
                <a:ea typeface="Lato"/>
                <a:cs typeface="Lato"/>
                <a:sym typeface="Lato"/>
              </a:rPr>
              <a:t>Observation:</a:t>
            </a:r>
            <a:br>
              <a:rPr lang="en-IN" dirty="0">
                <a:latin typeface="Lato"/>
                <a:ea typeface="Lato"/>
                <a:cs typeface="Lato"/>
                <a:sym typeface="Lato"/>
              </a:rPr>
            </a:br>
            <a:endParaRPr lang="en-IN" dirty="0">
              <a:latin typeface="Lato"/>
              <a:ea typeface="Lato"/>
              <a:cs typeface="Lato"/>
              <a:sym typeface="Lato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March month have better con</a:t>
            </a:r>
            <a:r>
              <a:rPr lang="en-IN" dirty="0">
                <a:latin typeface="Lato"/>
                <a:ea typeface="Lato"/>
                <a:cs typeface="Lato"/>
                <a:sym typeface="Lato"/>
              </a:rPr>
              <a:t>version then any other month with 51.88%. Followed by December, September and October. </a:t>
            </a: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B5F47D3-9803-C67D-7E0B-F3F0592D31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3132940"/>
              </p:ext>
            </p:extLst>
          </p:nvPr>
        </p:nvGraphicFramePr>
        <p:xfrm>
          <a:off x="838200" y="2057400"/>
          <a:ext cx="1062002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38152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500" b="1" dirty="0">
                <a:solidFill>
                  <a:srgbClr val="EF413D"/>
                </a:solidFill>
              </a:rPr>
              <a:t>PART III: </a:t>
            </a:r>
            <a:r>
              <a:rPr lang="en-US" sz="3500" b="1" dirty="0" err="1">
                <a:solidFill>
                  <a:srgbClr val="EF413D"/>
                </a:solidFill>
              </a:rPr>
              <a:t>Optimisation</a:t>
            </a:r>
            <a:r>
              <a:rPr lang="en-US" sz="3500" b="1" dirty="0">
                <a:solidFill>
                  <a:srgbClr val="EF413D"/>
                </a:solidFill>
              </a:rPr>
              <a:t> Results</a:t>
            </a:r>
            <a:br>
              <a:rPr lang="en-US" sz="3500" b="1" dirty="0">
                <a:solidFill>
                  <a:srgbClr val="EF413D"/>
                </a:solidFill>
              </a:rPr>
            </a:br>
            <a:r>
              <a:rPr lang="en-US" sz="1000" b="1" dirty="0">
                <a:solidFill>
                  <a:srgbClr val="EF413D"/>
                </a:solidFill>
              </a:rPr>
              <a:t> </a:t>
            </a:r>
            <a:br>
              <a:rPr lang="en-US" b="1" dirty="0"/>
            </a:br>
            <a:r>
              <a:rPr lang="en-US" sz="3000" b="1" dirty="0">
                <a:solidFill>
                  <a:srgbClr val="5A5A5A"/>
                </a:solidFill>
              </a:rPr>
              <a:t>Marketing Campaign Optimisation</a:t>
            </a:r>
            <a:endParaRPr sz="3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E4D80C-C36D-87BB-482B-208C3D137C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250650"/>
              </p:ext>
            </p:extLst>
          </p:nvPr>
        </p:nvGraphicFramePr>
        <p:xfrm>
          <a:off x="838201" y="1896532"/>
          <a:ext cx="5257800" cy="44816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3804">
                  <a:extLst>
                    <a:ext uri="{9D8B030D-6E8A-4147-A177-3AD203B41FA5}">
                      <a16:colId xmlns:a16="http://schemas.microsoft.com/office/drawing/2014/main" val="1219565288"/>
                    </a:ext>
                  </a:extLst>
                </a:gridCol>
                <a:gridCol w="660666">
                  <a:extLst>
                    <a:ext uri="{9D8B030D-6E8A-4147-A177-3AD203B41FA5}">
                      <a16:colId xmlns:a16="http://schemas.microsoft.com/office/drawing/2014/main" val="131417694"/>
                    </a:ext>
                  </a:extLst>
                </a:gridCol>
                <a:gridCol w="660666">
                  <a:extLst>
                    <a:ext uri="{9D8B030D-6E8A-4147-A177-3AD203B41FA5}">
                      <a16:colId xmlns:a16="http://schemas.microsoft.com/office/drawing/2014/main" val="2979506567"/>
                    </a:ext>
                  </a:extLst>
                </a:gridCol>
                <a:gridCol w="660666">
                  <a:extLst>
                    <a:ext uri="{9D8B030D-6E8A-4147-A177-3AD203B41FA5}">
                      <a16:colId xmlns:a16="http://schemas.microsoft.com/office/drawing/2014/main" val="855110879"/>
                    </a:ext>
                  </a:extLst>
                </a:gridCol>
                <a:gridCol w="660666">
                  <a:extLst>
                    <a:ext uri="{9D8B030D-6E8A-4147-A177-3AD203B41FA5}">
                      <a16:colId xmlns:a16="http://schemas.microsoft.com/office/drawing/2014/main" val="1282464284"/>
                    </a:ext>
                  </a:extLst>
                </a:gridCol>
                <a:gridCol w="660666">
                  <a:extLst>
                    <a:ext uri="{9D8B030D-6E8A-4147-A177-3AD203B41FA5}">
                      <a16:colId xmlns:a16="http://schemas.microsoft.com/office/drawing/2014/main" val="1393090557"/>
                    </a:ext>
                  </a:extLst>
                </a:gridCol>
                <a:gridCol w="660666">
                  <a:extLst>
                    <a:ext uri="{9D8B030D-6E8A-4147-A177-3AD203B41FA5}">
                      <a16:colId xmlns:a16="http://schemas.microsoft.com/office/drawing/2014/main" val="386809428"/>
                    </a:ext>
                  </a:extLst>
                </a:gridCol>
              </a:tblGrid>
              <a:tr h="1178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Segment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Conversion Rate (CR)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Avg Conv Time (hrs)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Avg Non-Conv Time (hrs)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Cost per Hour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Budget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Calls (Decision Variable)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71435417"/>
                  </a:ext>
                </a:extLst>
              </a:tr>
              <a:tr h="5526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Divorced-Bachelors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66012041"/>
                  </a:ext>
                </a:extLst>
              </a:tr>
              <a:tr h="5526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Divorced-Doctorate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478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74500145"/>
                  </a:ext>
                </a:extLst>
              </a:tr>
              <a:tr h="3139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Divorced-Masters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0.028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555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222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65013482"/>
                  </a:ext>
                </a:extLst>
              </a:tr>
              <a:tr h="3139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Married-Bachelors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694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85712967"/>
                  </a:ext>
                </a:extLst>
              </a:tr>
              <a:tr h="3139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Married-Doctorate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486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60229791"/>
                  </a:ext>
                </a:extLst>
              </a:tr>
              <a:tr h="3139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Married-Masters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535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81628104"/>
                  </a:ext>
                </a:extLst>
              </a:tr>
              <a:tr h="3139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Single-Bachelors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581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221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91501318"/>
                  </a:ext>
                </a:extLst>
              </a:tr>
              <a:tr h="3139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Single-Doctorate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558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15128318"/>
                  </a:ext>
                </a:extLst>
              </a:tr>
              <a:tr h="3139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Single-Masters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0.006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595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800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0623123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52EC7F1-7438-0DB2-E698-F4F01F73C452}"/>
              </a:ext>
            </a:extLst>
          </p:cNvPr>
          <p:cNvSpPr txBox="1"/>
          <p:nvPr/>
        </p:nvSpPr>
        <p:spPr>
          <a:xfrm>
            <a:off x="6265333" y="158875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Objective</a:t>
            </a:r>
            <a:r>
              <a:rPr lang="en-IN" dirty="0">
                <a:effectLst/>
              </a:rPr>
              <a:t> 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82500</a:t>
            </a:r>
            <a:r>
              <a:rPr lang="en-IN" dirty="0">
                <a:effectLst/>
              </a:rPr>
              <a:t> 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3BB77F-B597-6E88-AA30-F0D7CE409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025894"/>
              </p:ext>
            </p:extLst>
          </p:nvPr>
        </p:nvGraphicFramePr>
        <p:xfrm>
          <a:off x="6694311" y="1988537"/>
          <a:ext cx="4876800" cy="4389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6132">
                  <a:extLst>
                    <a:ext uri="{9D8B030D-6E8A-4147-A177-3AD203B41FA5}">
                      <a16:colId xmlns:a16="http://schemas.microsoft.com/office/drawing/2014/main" val="1258829194"/>
                    </a:ext>
                  </a:extLst>
                </a:gridCol>
                <a:gridCol w="983556">
                  <a:extLst>
                    <a:ext uri="{9D8B030D-6E8A-4147-A177-3AD203B41FA5}">
                      <a16:colId xmlns:a16="http://schemas.microsoft.com/office/drawing/2014/main" val="355986706"/>
                    </a:ext>
                  </a:extLst>
                </a:gridCol>
                <a:gridCol w="983556">
                  <a:extLst>
                    <a:ext uri="{9D8B030D-6E8A-4147-A177-3AD203B41FA5}">
                      <a16:colId xmlns:a16="http://schemas.microsoft.com/office/drawing/2014/main" val="2773101784"/>
                    </a:ext>
                  </a:extLst>
                </a:gridCol>
                <a:gridCol w="983556">
                  <a:extLst>
                    <a:ext uri="{9D8B030D-6E8A-4147-A177-3AD203B41FA5}">
                      <a16:colId xmlns:a16="http://schemas.microsoft.com/office/drawing/2014/main" val="2997020564"/>
                    </a:ext>
                  </a:extLst>
                </a:gridCol>
              </a:tblGrid>
              <a:tr h="2194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Constraints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LHS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Sign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RHS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91837046"/>
                  </a:ext>
                </a:extLst>
              </a:tr>
              <a:tr h="219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Budget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150000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=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150000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29539751"/>
                  </a:ext>
                </a:extLst>
              </a:tr>
              <a:tr h="219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Divorced-Bachelors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&lt;=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13868417"/>
                  </a:ext>
                </a:extLst>
              </a:tr>
              <a:tr h="219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Divorced-Doctorate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&lt;=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1871041"/>
                  </a:ext>
                </a:extLst>
              </a:tr>
              <a:tr h="219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Divorced-Masters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&lt;=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35981719"/>
                  </a:ext>
                </a:extLst>
              </a:tr>
              <a:tr h="219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Married-Bachelors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&lt;=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98925722"/>
                  </a:ext>
                </a:extLst>
              </a:tr>
              <a:tr h="219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Married-Doctorate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&lt;=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2623281"/>
                  </a:ext>
                </a:extLst>
              </a:tr>
              <a:tr h="219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Married-Masters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&lt;=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33958786"/>
                  </a:ext>
                </a:extLst>
              </a:tr>
              <a:tr h="219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Single-Bachelors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&lt;=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9313023"/>
                  </a:ext>
                </a:extLst>
              </a:tr>
              <a:tr h="219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Single-Doctorate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&lt;=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34946700"/>
                  </a:ext>
                </a:extLst>
              </a:tr>
              <a:tr h="219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Single-Masters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&lt;=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85825105"/>
                  </a:ext>
                </a:extLst>
              </a:tr>
              <a:tr h="219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Divorced-Bachelors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&gt;=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87928340"/>
                  </a:ext>
                </a:extLst>
              </a:tr>
              <a:tr h="219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Divorced-Doctorate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&gt;=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52122908"/>
                  </a:ext>
                </a:extLst>
              </a:tr>
              <a:tr h="219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Divorced-Masters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&gt;=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57727028"/>
                  </a:ext>
                </a:extLst>
              </a:tr>
              <a:tr h="219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Married-Bachelors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&gt;=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25526124"/>
                  </a:ext>
                </a:extLst>
              </a:tr>
              <a:tr h="219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Married-Doctorate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1200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&gt;=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56142164"/>
                  </a:ext>
                </a:extLst>
              </a:tr>
              <a:tr h="219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Married-Masters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&gt;=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22516864"/>
                  </a:ext>
                </a:extLst>
              </a:tr>
              <a:tr h="219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Single-Bachelors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&gt;=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06740210"/>
                  </a:ext>
                </a:extLst>
              </a:tr>
              <a:tr h="219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Single-Doctorate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&gt;=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41159486"/>
                  </a:ext>
                </a:extLst>
              </a:tr>
              <a:tr h="219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Single-Masters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&gt;=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52436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2855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500" b="1" dirty="0">
                <a:solidFill>
                  <a:srgbClr val="EF413D"/>
                </a:solidFill>
              </a:rPr>
              <a:t>PART IV: Major insights</a:t>
            </a:r>
            <a:br>
              <a:rPr lang="en-US" sz="3500" b="1" dirty="0">
                <a:solidFill>
                  <a:srgbClr val="EF413D"/>
                </a:solidFill>
              </a:rPr>
            </a:br>
            <a:r>
              <a:rPr lang="en-US" sz="1000" b="1" dirty="0">
                <a:solidFill>
                  <a:srgbClr val="EF413D"/>
                </a:solidFill>
              </a:rPr>
              <a:t> </a:t>
            </a:r>
            <a:br>
              <a:rPr lang="en-US" b="1" dirty="0"/>
            </a:br>
            <a:r>
              <a:rPr lang="en-US" sz="3000" b="1" dirty="0">
                <a:solidFill>
                  <a:srgbClr val="5A5A5A"/>
                </a:solidFill>
              </a:rPr>
              <a:t>Marketing Campaign Optimisation</a:t>
            </a:r>
            <a:endParaRPr sz="3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2B4C6E-7EB1-5CA9-E1A9-AC8D9166F787}"/>
              </a:ext>
            </a:extLst>
          </p:cNvPr>
          <p:cNvSpPr txBox="1"/>
          <p:nvPr/>
        </p:nvSpPr>
        <p:spPr>
          <a:xfrm>
            <a:off x="1275643" y="1690688"/>
            <a:ext cx="1019386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Lato"/>
                <a:ea typeface="Lato"/>
                <a:cs typeface="Lato"/>
                <a:sym typeface="Lato"/>
              </a:rPr>
              <a:t>As we can see our majority of customers lies between 24-60. This can be considered as most working group. We can also observe after 60 a steep decline in customers.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Lato"/>
                <a:ea typeface="Lato"/>
                <a:cs typeface="Lato"/>
                <a:sym typeface="Lato"/>
              </a:rPr>
              <a:t>In the month of may 30.62% calls was made higher then others call shares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/>
                <a:ea typeface="Lato"/>
                <a:cs typeface="Lato"/>
                <a:sym typeface="Lato"/>
              </a:rPr>
              <a:t>Majority of customers in blue-collar job and followed by management segment.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/>
                <a:ea typeface="Lato"/>
                <a:cs typeface="Lato"/>
                <a:sym typeface="Lato"/>
              </a:rPr>
              <a:t>Bank called most on Sundays 21.04% as Sunday is non working day for many working professional.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/>
                <a:ea typeface="Lato"/>
                <a:cs typeface="Lato"/>
                <a:sym typeface="Lato"/>
              </a:rPr>
              <a:t>In our observation on Wednesday least call 1.12%.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51% customers has masters degree followed by doctorate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Lato"/>
                <a:ea typeface="Lato"/>
                <a:cs typeface="Lato"/>
                <a:sym typeface="Lato"/>
              </a:rPr>
              <a:t>As we can observe those are having doctorate there subscription chances is higher then Bachelors and masters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/>
                <a:ea typeface="Lato"/>
                <a:cs typeface="Lato"/>
                <a:sym typeface="Lato"/>
              </a:rPr>
              <a:t>We can observe 63.50% people who are already have subscribed our home loan/personal loan service. So they are more interested in our term deposit.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/>
                <a:ea typeface="Lato"/>
                <a:cs typeface="Lato"/>
                <a:sym typeface="Lato"/>
              </a:rPr>
              <a:t>We can observe 63.50% people who are already have subscribed our home loan/personal loan service. So they are more interested in our term deposit. </a:t>
            </a:r>
          </a:p>
          <a:p>
            <a:endParaRPr lang="en-US" dirty="0">
              <a:latin typeface="Lato"/>
              <a:ea typeface="Lato"/>
              <a:cs typeface="Lato"/>
              <a:sym typeface="Lato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Lato"/>
              <a:ea typeface="Lato"/>
              <a:cs typeface="Lato"/>
              <a:sym typeface="La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Lato"/>
              <a:ea typeface="Lato"/>
              <a:cs typeface="Lato"/>
              <a:sym typeface="Lato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001779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933</TotalTime>
  <Words>1125</Words>
  <Application>Microsoft Office PowerPoint</Application>
  <PresentationFormat>Widescreen</PresentationFormat>
  <Paragraphs>376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Arial</vt:lpstr>
      <vt:lpstr>Lato</vt:lpstr>
      <vt:lpstr>Office Theme</vt:lpstr>
      <vt:lpstr>ASSIGNMENT GUIDELINES</vt:lpstr>
      <vt:lpstr>ASSIGNMENT   Name: Rahul Kumar</vt:lpstr>
      <vt:lpstr>PART I :  Univariate Analysis   Marketing Campaign Optimization</vt:lpstr>
      <vt:lpstr>PART I :  Univariate Analysis   Marketing Campaign Optimisation</vt:lpstr>
      <vt:lpstr>PART I :  Univariate Analysis   Marketing Campaign Optimisation</vt:lpstr>
      <vt:lpstr>PART I :  Univariate Analysis   Marketing Campaign Optimisation</vt:lpstr>
      <vt:lpstr>PART I :  Univariate Analysis  Marketing Campaign Optimization</vt:lpstr>
      <vt:lpstr>PART II :  Bivariate Analysis   Marketing Campaign Optimisation</vt:lpstr>
      <vt:lpstr>PART II :  Bivariate Analysis   Marketing Campaign Optimisation</vt:lpstr>
      <vt:lpstr>PART II :  Bivariate Analysis   Marketing Campaign Optimisation</vt:lpstr>
      <vt:lpstr>PART II :  Bivariate Analysis   Marketing Campaign Optimisation</vt:lpstr>
      <vt:lpstr>PART III: Optimisation Results   Marketing Campaign Optimisation</vt:lpstr>
      <vt:lpstr>PART IV: Major insights   Marketing Campaign Optimisation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GUIDELINES</dc:title>
  <dc:creator>Mahima Prasad</dc:creator>
  <cp:lastModifiedBy>RAHUL KUMAR</cp:lastModifiedBy>
  <cp:revision>27</cp:revision>
  <dcterms:modified xsi:type="dcterms:W3CDTF">2025-12-01T08:09:06Z</dcterms:modified>
</cp:coreProperties>
</file>